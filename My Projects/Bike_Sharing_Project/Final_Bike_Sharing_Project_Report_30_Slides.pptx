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Bike-sharing Rental Demand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Mentor: [Mentor Name]</a:t>
            </a:r>
          </a:p>
          <a:p>
            <a:pPr>
              <a:spcBef>
                <a:spcPts val="1000"/>
              </a:spcBef>
            </a:pPr>
            <a:r>
              <a:t>Team Member 1: [Name]</a:t>
            </a:r>
          </a:p>
          <a:p>
            <a:pPr>
              <a:spcBef>
                <a:spcPts val="1000"/>
              </a:spcBef>
            </a:pPr>
            <a:r>
              <a:t>Team Member 2: [Name]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Predict hourly bike rental demand.</a:t>
            </a:r>
          </a:p>
          <a:p>
            <a:pPr>
              <a:spcBef>
                <a:spcPts val="1000"/>
              </a:spcBef>
            </a:pPr>
            <a:r>
              <a:t>Optimize urban city bike supply.</a:t>
            </a:r>
          </a:p>
          <a:p>
            <a:pPr>
              <a:spcBef>
                <a:spcPts val="1000"/>
              </a:spcBef>
            </a:pPr>
            <a:r>
              <a:t>Reduce customer waiting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Source: UCI Bike Sharing Dataset</a:t>
            </a:r>
          </a:p>
          <a:p>
            <a:pPr>
              <a:spcBef>
                <a:spcPts val="1000"/>
              </a:spcBef>
            </a:pPr>
            <a:r>
              <a:t>17,379 Hourly Records</a:t>
            </a:r>
          </a:p>
          <a:p>
            <a:pPr>
              <a:spcBef>
                <a:spcPts val="1000"/>
              </a:spcBef>
            </a:pPr>
            <a:r>
              <a:t>17 Initial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Dictionary: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instant: Index</a:t>
            </a:r>
          </a:p>
          <a:p>
            <a:pPr>
              <a:spcBef>
                <a:spcPts val="1000"/>
              </a:spcBef>
            </a:pPr>
            <a:r>
              <a:t>dteday: Date</a:t>
            </a:r>
          </a:p>
          <a:p>
            <a:pPr>
              <a:spcBef>
                <a:spcPts val="1000"/>
              </a:spcBef>
            </a:pPr>
            <a:r>
              <a:t>season: Seasonality</a:t>
            </a:r>
          </a:p>
          <a:p>
            <a:pPr>
              <a:spcBef>
                <a:spcPts val="1000"/>
              </a:spcBef>
            </a:pPr>
            <a:r>
              <a:t>yr: Year</a:t>
            </a:r>
          </a:p>
          <a:p>
            <a:pPr>
              <a:spcBef>
                <a:spcPts val="1000"/>
              </a:spcBef>
            </a:pPr>
            <a:r>
              <a:t>mnth: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Dictionary: Weather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weathersit: Situation</a:t>
            </a:r>
          </a:p>
          <a:p>
            <a:pPr>
              <a:spcBef>
                <a:spcPts val="1000"/>
              </a:spcBef>
            </a:pPr>
            <a:r>
              <a:t>temp: Temperature</a:t>
            </a:r>
          </a:p>
          <a:p>
            <a:pPr>
              <a:spcBef>
                <a:spcPts val="1000"/>
              </a:spcBef>
            </a:pPr>
            <a:r>
              <a:t>hum: Humidity</a:t>
            </a:r>
          </a:p>
          <a:p>
            <a:pPr>
              <a:spcBef>
                <a:spcPts val="1000"/>
              </a:spcBef>
            </a:pPr>
            <a:r>
              <a:t>windspeed: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Missing Value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Detected '?' in weather metrics</a:t>
            </a:r>
          </a:p>
          <a:p>
            <a:pPr>
              <a:spcBef>
                <a:spcPts val="1000"/>
              </a:spcBef>
            </a:pPr>
            <a:r>
              <a:t>Imputed 11 entries in temp</a:t>
            </a:r>
          </a:p>
          <a:p>
            <a:pPr>
              <a:spcBef>
                <a:spcPts val="1000"/>
              </a:spcBef>
            </a:pPr>
            <a:r>
              <a:t>Imputed 6 in humidity/atemp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Boxplots revealed high count outliers</a:t>
            </a:r>
          </a:p>
          <a:p>
            <a:pPr>
              <a:spcBef>
                <a:spcPts val="1000"/>
              </a:spcBef>
            </a:pPr>
            <a:r>
              <a:t>Confirmed as rush-hour peaks</a:t>
            </a:r>
          </a:p>
          <a:p>
            <a:pPr>
              <a:spcBef>
                <a:spcPts val="1000"/>
              </a:spcBef>
            </a:pPr>
            <a:r>
              <a:t>Kept outliers to maintain real-world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Coerced numeric types</a:t>
            </a:r>
          </a:p>
          <a:p>
            <a:pPr>
              <a:spcBef>
                <a:spcPts val="1000"/>
              </a:spcBef>
            </a:pPr>
            <a:r>
              <a:t>Parsed DD-MM-YYYY dates</a:t>
            </a:r>
          </a:p>
          <a:p>
            <a:pPr>
              <a:spcBef>
                <a:spcPts val="1000"/>
              </a:spcBef>
            </a:pPr>
            <a:r>
              <a:t>Handled inconsistencies between casual/registered/cnt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Demand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Right-skewed target variable</a:t>
            </a:r>
          </a:p>
          <a:p>
            <a:pPr>
              <a:spcBef>
                <a:spcPts val="1000"/>
              </a:spcBef>
            </a:pPr>
            <a:r>
              <a:t>Majority of hours are low-demand</a:t>
            </a:r>
          </a:p>
          <a:p>
            <a:pPr>
              <a:spcBef>
                <a:spcPts val="1000"/>
              </a:spcBef>
            </a:pPr>
            <a:r>
              <a:t>High peaks are rare but critical</a:t>
            </a:r>
          </a:p>
        </p:txBody>
      </p:sp>
      <p:pic>
        <p:nvPicPr>
          <p:cNvPr id="4" name="Picture 3" descr="dist_c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Hourly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Peaks at 8 AM and 5-6 PM</a:t>
            </a:r>
          </a:p>
          <a:p>
            <a:pPr>
              <a:spcBef>
                <a:spcPts val="1000"/>
              </a:spcBef>
            </a:pPr>
            <a:r>
              <a:t>Commuter-driven behavior dominates</a:t>
            </a:r>
          </a:p>
          <a:p>
            <a:pPr>
              <a:spcBef>
                <a:spcPts val="1000"/>
              </a:spcBef>
            </a:pPr>
            <a:r>
              <a:t>Operations should focus on these slots</a:t>
            </a:r>
          </a:p>
        </p:txBody>
      </p:sp>
      <p:pic>
        <p:nvPicPr>
          <p:cNvPr id="4" name="Picture 3" descr="hour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Seasonal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Fall shows highest bike demand</a:t>
            </a:r>
          </a:p>
          <a:p>
            <a:pPr>
              <a:spcBef>
                <a:spcPts val="1000"/>
              </a:spcBef>
            </a:pPr>
            <a:r>
              <a:t>Spring has significantly lower demand</a:t>
            </a:r>
          </a:p>
          <a:p>
            <a:pPr>
              <a:spcBef>
                <a:spcPts val="1000"/>
              </a:spcBef>
            </a:pPr>
            <a:r>
              <a:t>Marketing should target transition seasons</a:t>
            </a:r>
          </a:p>
        </p:txBody>
      </p:sp>
      <p:pic>
        <p:nvPicPr>
          <p:cNvPr id="4" name="Picture 3" descr="seasonal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Weather 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Clear weather = Maximum rentals</a:t>
            </a:r>
          </a:p>
          <a:p>
            <a:pPr>
              <a:spcBef>
                <a:spcPts val="1000"/>
              </a:spcBef>
            </a:pPr>
            <a:r>
              <a:t>Heavy rain = Minimal rentals</a:t>
            </a:r>
          </a:p>
          <a:p>
            <a:pPr>
              <a:spcBef>
                <a:spcPts val="1000"/>
              </a:spcBef>
            </a:pPr>
            <a:r>
              <a:t>Demand is highly weather-elastic</a:t>
            </a:r>
          </a:p>
        </p:txBody>
      </p:sp>
      <p:pic>
        <p:nvPicPr>
          <p:cNvPr id="4" name="Picture 3" descr="weather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Temperature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Positive correlation with rentals</a:t>
            </a:r>
          </a:p>
          <a:p>
            <a:pPr>
              <a:spcBef>
                <a:spcPts val="1000"/>
              </a:spcBef>
            </a:pPr>
            <a:r>
              <a:t>Optimal riding temp: 0.6-0.8 range</a:t>
            </a:r>
          </a:p>
          <a:p>
            <a:pPr>
              <a:spcBef>
                <a:spcPts val="1000"/>
              </a:spcBef>
            </a:pPr>
            <a:r>
              <a:t>Cold weather reduces casual ridership</a:t>
            </a:r>
          </a:p>
        </p:txBody>
      </p:sp>
      <p:pic>
        <p:nvPicPr>
          <p:cNvPr id="4" name="Picture 3" descr="temp_v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Working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Higher consistent demand on workdays</a:t>
            </a:r>
          </a:p>
          <a:p>
            <a:pPr>
              <a:spcBef>
                <a:spcPts val="1000"/>
              </a:spcBef>
            </a:pPr>
            <a:r>
              <a:t>Different patterns for holidays vs workdays</a:t>
            </a:r>
          </a:p>
          <a:p>
            <a:pPr>
              <a:spcBef>
                <a:spcPts val="1000"/>
              </a:spcBef>
            </a:pPr>
            <a:r>
              <a:t>Resource allocation must be dynamic</a:t>
            </a:r>
          </a:p>
        </p:txBody>
      </p:sp>
      <p:pic>
        <p:nvPicPr>
          <p:cNvPr id="4" name="Picture 3" descr="workingday_holi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Engineering: Cyclic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Hour mapped to Sin/Cos</a:t>
            </a:r>
          </a:p>
          <a:p>
            <a:pPr>
              <a:spcBef>
                <a:spcPts val="1000"/>
              </a:spcBef>
            </a:pPr>
            <a:r>
              <a:t>Month mapped to Sin/Cos</a:t>
            </a:r>
          </a:p>
          <a:p>
            <a:pPr>
              <a:spcBef>
                <a:spcPts val="1000"/>
              </a:spcBef>
            </a:pPr>
            <a:r>
              <a:t>Maintains circular time relationships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Engineering: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One-Hot Encoding for Season</a:t>
            </a:r>
          </a:p>
          <a:p>
            <a:pPr>
              <a:spcBef>
                <a:spcPts val="1000"/>
              </a:spcBef>
            </a:pPr>
            <a:r>
              <a:t>One-Hot Encoding for Weather</a:t>
            </a:r>
          </a:p>
          <a:p>
            <a:pPr>
              <a:spcBef>
                <a:spcPts val="1000"/>
              </a:spcBef>
            </a:pPr>
            <a:r>
              <a:t>Ensured non-ordinal treatment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Engineering: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Min-Max Scaler for weather data</a:t>
            </a:r>
          </a:p>
          <a:p>
            <a:pPr>
              <a:spcBef>
                <a:spcPts val="1000"/>
              </a:spcBef>
            </a:pPr>
            <a:r>
              <a:t>Normalized range: 0 to 1</a:t>
            </a:r>
          </a:p>
          <a:p>
            <a:pPr>
              <a:spcBef>
                <a:spcPts val="1000"/>
              </a:spcBef>
            </a:pPr>
            <a:r>
              <a:t>Ensured uniform feature contribution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Temp &amp; Atemp are highly correlated</a:t>
            </a:r>
          </a:p>
          <a:p>
            <a:pPr>
              <a:spcBef>
                <a:spcPts val="1000"/>
              </a:spcBef>
            </a:pPr>
            <a:r>
              <a:t>Humidity negatively impacts demand</a:t>
            </a:r>
          </a:p>
          <a:p>
            <a:pPr>
              <a:spcBef>
                <a:spcPts val="1000"/>
              </a:spcBef>
            </a:pPr>
            <a:r>
              <a:t>Hour is the strongest temporal feature</a:t>
            </a:r>
          </a:p>
        </p:txBody>
      </p:sp>
      <p:pic>
        <p:nvPicPr>
          <p:cNvPr id="4" name="Picture 3" descr="correlation_matrix_proce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9377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Evaluated three core algorithms: Decision Tree, Random Forest, and Gradient Boosting.</a:t>
            </a:r>
          </a:p>
          <a:p>
            <a:pPr>
              <a:spcBef>
                <a:spcPts val="1000"/>
              </a:spcBef>
            </a:pPr>
            <a:r>
              <a:t>Goal: Identify the model with the highest generalization power.</a:t>
            </a:r>
          </a:p>
          <a:p>
            <a:pPr>
              <a:spcBef>
                <a:spcPts val="1000"/>
              </a:spcBef>
            </a:pPr>
            <a:r>
              <a:t>Used a 80/20 train-test split with random state for reproducibility.</a:t>
            </a:r>
          </a:p>
          <a:p>
            <a:pPr>
              <a:spcBef>
                <a:spcPts val="1000"/>
              </a:spcBef>
            </a:pPr>
            <a:r>
              <a:t>Metric Focus: R-squared (Accuracy) and MAE (Average Error).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Analysis: Why Others Were Rejected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Decision Tree (R2: 0.88): Overfitted the training data too easily. High variance led to unreliable predictions for unseen peaks.</a:t>
            </a:r>
          </a:p>
          <a:p>
            <a:pPr>
              <a:spcBef>
                <a:spcPts val="1000"/>
              </a:spcBef>
            </a:pPr>
            <a:r>
              <a:t>Gradient Boosting (R2: 0.88): Showed high sensitivity to noise in the dataset, resulting in the highest Average Error (MAE 42).</a:t>
            </a:r>
          </a:p>
          <a:p>
            <a:pPr>
              <a:spcBef>
                <a:spcPts val="1000"/>
              </a:spcBef>
            </a:pPr>
            <a:r>
              <a:t>Both models failed to capture the complex, non-linear interactions as effectively as the ensemble method.</a:t>
            </a:r>
          </a:p>
        </p:txBody>
      </p:sp>
      <p:pic>
        <p:nvPicPr>
          <p:cNvPr id="4" name="Picture 3" descr="model_comparis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Winner: Random Forest (R2: 0.94)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Ensemble Advantage: Combines multiple trees to cancel out individual prediction errors (Bagging).</a:t>
            </a:r>
          </a:p>
          <a:p>
            <a:pPr>
              <a:spcBef>
                <a:spcPts val="1000"/>
              </a:spcBef>
            </a:pPr>
            <a:r>
              <a:t>Robustness: Handles skewed distributions and outliers (peak hours) without losing accuracy.</a:t>
            </a:r>
          </a:p>
          <a:p>
            <a:pPr>
              <a:spcBef>
                <a:spcPts val="1000"/>
              </a:spcBef>
            </a:pPr>
            <a:r>
              <a:t>Performance: Achieved the lowest error and highest precision in demand forecasting.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Used Randomized Search CV</a:t>
            </a:r>
          </a:p>
          <a:p>
            <a:pPr>
              <a:spcBef>
                <a:spcPts val="1000"/>
              </a:spcBef>
            </a:pPr>
            <a:r>
              <a:t>Optimized Depth and Estimators</a:t>
            </a:r>
          </a:p>
          <a:p>
            <a:pPr>
              <a:spcBef>
                <a:spcPts val="1000"/>
              </a:spcBef>
            </a:pPr>
            <a:r>
              <a:t>Final model is robust to overfitting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Hour is the top driver (60%+)</a:t>
            </a:r>
          </a:p>
          <a:p>
            <a:pPr>
              <a:spcBef>
                <a:spcPts val="1000"/>
              </a:spcBef>
            </a:pPr>
            <a:r>
              <a:t>Temp is the second major driver</a:t>
            </a:r>
          </a:p>
          <a:p>
            <a:pPr>
              <a:spcBef>
                <a:spcPts val="1000"/>
              </a:spcBef>
            </a:pPr>
            <a:r>
              <a:t>Yearly growth is significant</a:t>
            </a:r>
          </a:p>
        </p:txBody>
      </p:sp>
      <p:pic>
        <p:nvPicPr>
          <p:cNvPr id="4" name="Picture 3" descr="top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MAE: ~25 rentals</a:t>
            </a:r>
          </a:p>
          <a:p>
            <a:pPr>
              <a:spcBef>
                <a:spcPts val="1000"/>
              </a:spcBef>
            </a:pPr>
            <a:r>
              <a:t>RMSE: ~43 rentals</a:t>
            </a:r>
          </a:p>
          <a:p>
            <a:pPr>
              <a:spcBef>
                <a:spcPts val="1000"/>
              </a:spcBef>
            </a:pPr>
            <a:r>
              <a:t>R-squared: 0.94 (Excellent fit)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Predictions follow actual values closely</a:t>
            </a:r>
          </a:p>
          <a:p>
            <a:pPr>
              <a:spcBef>
                <a:spcPts val="1000"/>
              </a:spcBef>
            </a:pPr>
            <a:r>
              <a:t>Stable across all demand levels</a:t>
            </a:r>
          </a:p>
          <a:p>
            <a:pPr>
              <a:spcBef>
                <a:spcPts val="1000"/>
              </a:spcBef>
            </a:pPr>
            <a:r>
              <a:t>Minimal error for peak hours</a:t>
            </a:r>
          </a:p>
        </p:txBody>
      </p:sp>
      <p:pic>
        <p:nvPicPr>
          <p:cNvPr id="4" name="Picture 3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Deployment: App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Streamlit Interface integrated</a:t>
            </a:r>
          </a:p>
          <a:p>
            <a:pPr>
              <a:spcBef>
                <a:spcPts val="1000"/>
              </a:spcBef>
            </a:pPr>
            <a:r>
              <a:t>Real-time user inputs supported</a:t>
            </a:r>
          </a:p>
          <a:p>
            <a:pPr>
              <a:spcBef>
                <a:spcPts val="1000"/>
              </a:spcBef>
            </a:pPr>
            <a:r>
              <a:t>Instant demand forecasting rendered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Data cleaning of hidden '?' values</a:t>
            </a:r>
          </a:p>
          <a:p>
            <a:pPr>
              <a:spcBef>
                <a:spcPts val="1000"/>
              </a:spcBef>
            </a:pPr>
            <a:r>
              <a:t>Capturing cyclic nature of time</a:t>
            </a:r>
          </a:p>
          <a:p>
            <a:pPr>
              <a:spcBef>
                <a:spcPts val="1000"/>
              </a:spcBef>
            </a:pPr>
            <a:r>
              <a:t>Tuning ensemble weights</a:t>
            </a:r>
          </a:p>
          <a:p>
            <a:pPr>
              <a:spcBef>
                <a:spcPts val="1000"/>
              </a:spcBef>
            </a:pPr>
            <a:r>
              <a:t>Managing high-dimensional categorical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1000"/>
              </a:spcBef>
            </a:pPr>
            <a:r>
              <a:t>High accuracy models enable better supply</a:t>
            </a:r>
          </a:p>
          <a:p>
            <a:pPr>
              <a:spcBef>
                <a:spcPts val="1000"/>
              </a:spcBef>
            </a:pPr>
            <a:r>
              <a:t>Weather and Time are critical for city planning</a:t>
            </a:r>
          </a:p>
          <a:p>
            <a:pPr>
              <a:spcBef>
                <a:spcPts val="1000"/>
              </a:spcBef>
            </a:pPr>
            <a:r>
              <a:t>Scalable approach for other cities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the opportunity!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